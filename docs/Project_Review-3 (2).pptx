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</a:rPr>
              <a:t>KLH University, Hyderabad  |  Project Review-3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7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Review-3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960120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Loan Default Prediction Using Banking Analytics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0896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Machine Learning Framework Across Three Public Credit Datasets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48056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Tejasree, B. Sruthi, B. Bhavya Sai Sree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K. Swapnika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University, Hyderabad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and 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949440" cy="4754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loan default happens when a borrower stops repaying as agreed, and the bank bears the loss.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Defaulted loans that stay unpaid become non-performing assets (NPAs), which reduce a bank’s profit and capital.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credit scoring uses fixed rules and a few variables. It handles non-linear patterns poorly.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alone does not tell the bank why an applicant was rejected.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model must be accurate and also explain its decisions.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863840" y="1280160"/>
            <a:ext cx="3749040" cy="4754880"/>
          </a:xfrm>
          <a:prstGeom prst="rect">
            <a:avLst/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0" y="14630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focus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2011680"/>
            <a:ext cx="329184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loan default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ML models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results with SHAP and LIME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and 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474720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models are often hard to interpret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studies use only one dataset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and hybrid models are rarely compared on the same data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12801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1828800"/>
            <a:ext cx="3474720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three public credit datasets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five baseline models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evaluate a hybrid model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predictions with SHAP and LIME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results in a dashboard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87952" y="1280160"/>
            <a:ext cx="0" cy="4389120"/>
          </a:xfrm>
          <a:prstGeom prst="line">
            <a:avLst/>
          </a:prstGeom>
          <a:noFill/>
          <a:ln w="12700">
            <a:solidFill>
              <a:srgbClr val="B8C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38160" y="12801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1828800"/>
            <a:ext cx="3474720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the baseline models compare across datasets?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hybrid model improve on them?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drive default risk?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82712" y="1280160"/>
            <a:ext cx="0" cy="4389120"/>
          </a:xfrm>
          <a:prstGeom prst="line">
            <a:avLst/>
          </a:prstGeom>
          <a:noFill/>
          <a:ln w="12700">
            <a:solidFill>
              <a:srgbClr val="B8C7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5943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Wording to be matched with the Review-2 slides.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is used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Lending Club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Peer-to-peer loan records with borrower details and repayment status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real-world data for default prediction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Statlog German Credit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Applicants labelled as good or bad credit risk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standard benchmark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Credit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applications from borrowers with limited credit history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features, imbalanced classes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46320"/>
            <a:ext cx="110642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separate evaluation: </a:t>
            </a: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datasets differ in size, features, class balance and data quality. Testing each one separately shows whether the models hold up beyond a single dataset.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Methodology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1280160"/>
          <a:ext cx="5394960" cy="30175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cleaning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Missing-value handling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Encoding of categorical features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imbalance handling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/>
        </p:nvGraphicFramePr>
        <p:xfrm>
          <a:off x="6217920" y="1280160"/>
          <a:ext cx="5394960" cy="25146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Exploratory data analysis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engineering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training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evaluation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options: Completed / In Progress / Pending. Mark Completed only where output exists.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377440" cy="11887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71800" y="1965960"/>
            <a:ext cx="365760" cy="365760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9000" y="1554480"/>
            <a:ext cx="2377440" cy="11887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55448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and EDA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0" y="1965960"/>
            <a:ext cx="365760" cy="365760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554480"/>
            <a:ext cx="2377440" cy="11887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5448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732520" y="1965960"/>
            <a:ext cx="365760" cy="365760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89720" y="1554480"/>
            <a:ext cx="2377440" cy="11887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81160" y="155448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Training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89720" y="3840480"/>
            <a:ext cx="2377440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81160" y="384048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Hybrid Model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 flipH="1">
            <a:off x="8732520" y="4251960"/>
            <a:ext cx="365760" cy="365760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840480"/>
            <a:ext cx="2377440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384048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 flipH="1">
            <a:off x="5852160" y="4251960"/>
            <a:ext cx="365760" cy="365760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3840480"/>
            <a:ext cx="2377440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20440" y="384048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/ LIME Explainability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 flipH="1">
            <a:off x="2971800" y="4251960"/>
            <a:ext cx="365760" cy="365760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840480"/>
            <a:ext cx="2377440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84048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149840" y="2834640"/>
            <a:ext cx="457200" cy="502920"/>
          </a:xfrm>
          <a:prstGeom prst="down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Implementation and Execution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291840" cy="224028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3291840" cy="2240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Python code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3291840" cy="224028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703320"/>
            <a:ext cx="3291840" cy="2240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preprocessing output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23360" y="1280160"/>
            <a:ext cx="3291840" cy="224028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23360" y="1280160"/>
            <a:ext cx="3291840" cy="2240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model execution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23360" y="3703320"/>
            <a:ext cx="3291840" cy="224028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0" y="3703320"/>
            <a:ext cx="3291840" cy="2240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evaluation results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7589520" y="1280160"/>
          <a:ext cx="4023360" cy="4114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engineering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models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model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/ LIME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0" y="1294130"/>
            <a:ext cx="3453765" cy="222631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1280795"/>
            <a:ext cx="3313430" cy="224536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37610"/>
            <a:ext cx="3291205" cy="22002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3692525"/>
            <a:ext cx="3453130" cy="2245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Machine Learning Models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1280160"/>
          <a:ext cx="11064240" cy="35661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the comparison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interpretable reference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tree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Rule-based, easy to read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Bagged trees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variance of one tree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tabular-data baseline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categorical features directly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use the same data splits and metrics, so the hybrid model is compared against the same baselines.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Hybrid Model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766560" cy="429768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6766560" cy="429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architecture diagram once the hybrid model is implemented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7373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documented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2286000"/>
            <a:ext cx="393192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models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their outputs are combined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validation setup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evaluating this approach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the five baselines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" y="1645285"/>
            <a:ext cx="7007225" cy="4632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Analysis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48640" y="1280160"/>
          <a:ext cx="11064240" cy="3712464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Hybrid Model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to be written after the results are generated. Results will be reported per dataset.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Execution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(to confirm)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766560" cy="429768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6766560" cy="429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running dashboard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7373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features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2286000"/>
            <a:ext cx="393192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prediction explanations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Loan-risk insights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55" y="1647190"/>
            <a:ext cx="7200900" cy="42983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global importance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features influence predictions most across all applicants.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28016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LIME: individual predictions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737360"/>
            <a:ext cx="53949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one applicant was classified as high or low risk.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394960" cy="329184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5394960" cy="3291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plot (insert if available)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743200"/>
            <a:ext cx="5394960" cy="329184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2743200"/>
            <a:ext cx="5394960" cy="3291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explanation (insert if available)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715260"/>
            <a:ext cx="5127625" cy="34283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45" y="2743200"/>
            <a:ext cx="53949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 and Research Paper Progress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</a:t>
            </a: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GitHub URL]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0" cy="210312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66928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directory structure (paste from repository)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5669280" cy="192024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114800"/>
            <a:ext cx="566928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recent commits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6583680" y="1280160"/>
          <a:ext cx="5029200" cy="4279392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section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Introduction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review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/ results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Discussion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References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0"/>
            <a:ext cx="6464300" cy="45789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5C51ED-6B92-53AD-26FD-08EC046D6C90}"/>
              </a:ext>
            </a:extLst>
          </p:cNvPr>
          <p:cNvSpPr txBox="1"/>
          <p:nvPr/>
        </p:nvSpPr>
        <p:spPr>
          <a:xfrm>
            <a:off x="2847474" y="2077453"/>
            <a:ext cx="782597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01602402"/>
      </p:ext>
    </p:extLst>
  </p:cSld>
  <p:clrMapOvr>
    <a:masterClrMapping/>
  </p:clrMapOvr>
</p:sld>
</file>

<file path=ppt/theme/theme1.xml><?xml version="1.0" encoding="utf-8"?>
<a:theme xmlns:a="http://schemas.openxmlformats.org/drawingml/2006/main" name="KLH Review">
  <a:themeElements>
    <a:clrScheme name="KLH Review">
      <a:dk1>
        <a:srgbClr val="0B1F3A"/>
      </a:dk1>
      <a:lt1>
        <a:srgbClr val="FFFFFF"/>
      </a:lt1>
      <a:dk2>
        <a:srgbClr val="1D4ED8"/>
      </a:dk2>
      <a:lt2>
        <a:srgbClr val="EEF5FA"/>
      </a:lt2>
      <a:accent1>
        <a:srgbClr val="1D4ED8"/>
      </a:accent1>
      <a:accent2>
        <a:srgbClr val="0891B2"/>
      </a:accent2>
      <a:accent3>
        <a:srgbClr val="0B1F3A"/>
      </a:accent3>
      <a:accent4>
        <a:srgbClr val="5B6B82"/>
      </a:accent4>
      <a:accent5>
        <a:srgbClr val="B45309"/>
      </a:accent5>
      <a:accent6>
        <a:srgbClr val="16A34A"/>
      </a:accent6>
      <a:hlink>
        <a:srgbClr val="1D4ED8"/>
      </a:hlink>
      <a:folHlink>
        <a:srgbClr val="5B6B82"/>
      </a:folHlink>
    </a:clrScheme>
    <a:fontScheme name="KLH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LH Review">
  <a:themeElements>
    <a:clrScheme name="KLH Review">
      <a:dk1>
        <a:srgbClr val="0B1F3A"/>
      </a:dk1>
      <a:lt1>
        <a:srgbClr val="FFFFFF"/>
      </a:lt1>
      <a:dk2>
        <a:srgbClr val="1D4ED8"/>
      </a:dk2>
      <a:lt2>
        <a:srgbClr val="EEF5FA"/>
      </a:lt2>
      <a:accent1>
        <a:srgbClr val="1D4ED8"/>
      </a:accent1>
      <a:accent2>
        <a:srgbClr val="0891B2"/>
      </a:accent2>
      <a:accent3>
        <a:srgbClr val="0B1F3A"/>
      </a:accent3>
      <a:accent4>
        <a:srgbClr val="5B6B82"/>
      </a:accent4>
      <a:accent5>
        <a:srgbClr val="B45309"/>
      </a:accent5>
      <a:accent6>
        <a:srgbClr val="16A34A"/>
      </a:accent6>
      <a:hlink>
        <a:srgbClr val="1D4ED8"/>
      </a:hlink>
      <a:folHlink>
        <a:srgbClr val="5B6B82"/>
      </a:folHlink>
    </a:clrScheme>
    <a:fontScheme name="KLH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821</Words>
  <Application>Microsoft Office PowerPoint</Application>
  <PresentationFormat>Widescreen</PresentationFormat>
  <Paragraphs>239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KLH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Review-3</dc:title>
  <dc:subject>PptxGenJS Presentation</dc:subject>
  <dc:creator>PptxGenJS</dc:creator>
  <cp:lastModifiedBy>Sruthi Bhatraju</cp:lastModifiedBy>
  <cp:revision>3</cp:revision>
  <dcterms:created xsi:type="dcterms:W3CDTF">2026-10-29T03:54:49Z</dcterms:created>
  <dcterms:modified xsi:type="dcterms:W3CDTF">2026-10-29T04:55:37Z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1033-12.1.28496.28496</vt:lpwstr>
  </property>
  <property fmtid="{D5CDD505-2E9C-101B-9397-08002B2CF9AE}" pid="3" name="ICV">
    <vt:lpwstr>18D402A910D75FA489C3E26A21BCDCC6_42</vt:lpwstr>
  </property>
</Properties>
</file>